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659" r:id="rId1"/>
  </p:sldMasterIdLst>
  <p:notesMasterIdLst>
    <p:notesMasterId r:id="rId19"/>
  </p:notesMasterIdLst>
  <p:sldIdLst>
    <p:sldId id="256" r:id="rId2"/>
    <p:sldId id="264" r:id="rId3"/>
    <p:sldId id="280" r:id="rId4"/>
    <p:sldId id="296" r:id="rId5"/>
    <p:sldId id="309" r:id="rId6"/>
    <p:sldId id="294" r:id="rId7"/>
    <p:sldId id="293" r:id="rId8"/>
    <p:sldId id="300" r:id="rId9"/>
    <p:sldId id="305" r:id="rId10"/>
    <p:sldId id="297" r:id="rId11"/>
    <p:sldId id="298" r:id="rId12"/>
    <p:sldId id="308" r:id="rId13"/>
    <p:sldId id="306" r:id="rId14"/>
    <p:sldId id="307" r:id="rId15"/>
    <p:sldId id="291" r:id="rId16"/>
    <p:sldId id="299" r:id="rId17"/>
    <p:sldId id="295" r:id="rId1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21596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6356351"/>
            <a:ext cx="1538817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6356351"/>
            <a:ext cx="9842500" cy="4652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B.Sc. Pre-Defense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76200"/>
            <a:ext cx="244474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3555999" y="327196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2707" y="3959471"/>
            <a:ext cx="5986585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295400"/>
            <a:ext cx="10363200" cy="1752600"/>
          </a:xfrm>
        </p:spPr>
        <p:txBody>
          <a:bodyPr rtlCol="0">
            <a:normAutofit/>
          </a:bodyPr>
          <a:lstStyle/>
          <a:p>
            <a:r>
              <a:rPr lang="en" sz="2800" dirty="0">
                <a:solidFill>
                  <a:srgbClr val="7030A0"/>
                </a:solidFill>
              </a:rPr>
              <a:t>BoneFusionNet: A Detection-Guided Multimodal DeepLearning Framework with Clinical Metadata Fusion for  Bone Tumor Classification on Radiographs</a:t>
            </a:r>
            <a:endParaRPr lang="en-US" sz="2800" dirty="0">
              <a:solidFill>
                <a:srgbClr val="7030A0"/>
              </a:solidFill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C8551-41BC-7160-AB58-5A1854853554}"/>
              </a:ext>
            </a:extLst>
          </p:cNvPr>
          <p:cNvSpPr txBox="1"/>
          <p:nvPr/>
        </p:nvSpPr>
        <p:spPr>
          <a:xfrm>
            <a:off x="8906256" y="185335"/>
            <a:ext cx="3276600" cy="369332"/>
          </a:xfrm>
          <a:prstGeom prst="rect">
            <a:avLst/>
          </a:prstGeom>
          <a:solidFill>
            <a:srgbClr val="215968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Google Shape;158;p28">
            <a:extLst>
              <a:ext uri="{FF2B5EF4-FFF2-40B4-BE49-F238E27FC236}">
                <a16:creationId xmlns:a16="http://schemas.microsoft.com/office/drawing/2014/main" id="{484A71F2-DED8-96AA-D2DA-99A0305E42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7600" y="3886200"/>
            <a:ext cx="48006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500"/>
              <a:buNone/>
            </a:pPr>
            <a:endParaRPr sz="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Md. Mohayminul Mukit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 :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0242220005101570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And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Md. </a:t>
            </a:r>
            <a:r>
              <a:rPr lang="en-US" sz="1800" b="1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Sadibul</a:t>
            </a: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Hasan Sadib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ID :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0242220005101563</a:t>
            </a: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 CSE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Daffodil International University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100"/>
              <a:buNone/>
            </a:pP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4400" y="1585118"/>
            <a:ext cx="10972800" cy="3962400"/>
          </a:xfrm>
        </p:spPr>
        <p:txBody>
          <a:bodyPr>
            <a:normAutofit fontScale="92500" lnSpcReduction="20000"/>
          </a:bodyPr>
          <a:lstStyle/>
          <a:p>
            <a:pPr marL="254000" lvl="0" indent="-252254">
              <a:spcBef>
                <a:spcPts val="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of this Study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Datasets, Tools and Techniques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&amp; Analysis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 Visualization 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Interface</a:t>
            </a:r>
            <a:endParaRPr lang="en-US" sz="2400" dirty="0"/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Work</a:t>
            </a:r>
          </a:p>
          <a:p>
            <a:pPr marL="254000" lvl="0" indent="-252254">
              <a:spcBef>
                <a:spcPts val="300"/>
              </a:spcBef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References</a:t>
            </a:r>
            <a:endParaRPr lang="en-US" sz="2400" dirty="0"/>
          </a:p>
          <a:p>
            <a:pPr marL="254000" lvl="0" indent="-254000">
              <a:spcBef>
                <a:spcPts val="400"/>
              </a:spcBef>
              <a:buClr>
                <a:srgbClr val="366092"/>
              </a:buClr>
              <a:buSzPct val="100000"/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2964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4EFF0-3D03-C0F9-F0D4-A9D3482709F0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160C4-4E81-64AE-82AE-E159832FFEF8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3836E-8F2C-972B-F1A3-5B538D693CF3}"/>
              </a:ext>
            </a:extLst>
          </p:cNvPr>
          <p:cNvSpPr txBox="1"/>
          <p:nvPr/>
        </p:nvSpPr>
        <p:spPr>
          <a:xfrm>
            <a:off x="5204011" y="2528047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6" name="Google Shape;172;p30">
            <a:extLst>
              <a:ext uri="{FF2B5EF4-FFF2-40B4-BE49-F238E27FC236}">
                <a16:creationId xmlns:a16="http://schemas.microsoft.com/office/drawing/2014/main" id="{B00C6DC3-D822-E761-59D2-314CD2143AF7}"/>
              </a:ext>
            </a:extLst>
          </p:cNvPr>
          <p:cNvSpPr txBox="1">
            <a:spLocks/>
          </p:cNvSpPr>
          <p:nvPr/>
        </p:nvSpPr>
        <p:spPr>
          <a:xfrm>
            <a:off x="1752600" y="1905000"/>
            <a:ext cx="8991600" cy="33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learning-based framework for automated bone tumor classification using plain radiographs. It integrates automatic tumor detection, ROI-based classification, multimodal fusion, and explainable AI into a unified pipeline. The proposed framework delivers reliable and interpretable predictions for clinical decision support.</a:t>
            </a:r>
            <a:endParaRPr lang="en-US" sz="24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C18772-518C-E2F8-EBA7-247295C187B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7" name="Google Shape;180;p31">
            <a:extLst>
              <a:ext uri="{FF2B5EF4-FFF2-40B4-BE49-F238E27FC236}">
                <a16:creationId xmlns:a16="http://schemas.microsoft.com/office/drawing/2014/main" id="{29AFC4DD-BC9A-33D3-807C-6797FF9FFA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978898"/>
              </p:ext>
            </p:extLst>
          </p:nvPr>
        </p:nvGraphicFramePr>
        <p:xfrm>
          <a:off x="838200" y="1300877"/>
          <a:ext cx="10770010" cy="490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1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3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8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Author(s) &amp; Year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Paper Title (Standardized)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Key Contributions / Work Details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Song et al., 2024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Multimodal Transformer for Bone Tumor Classification (PBTC-TransNet)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Proposed multimodal fusion using X-ray, CT, MRI and clinical data; achieved strong AUC (~0.78 external) and improved clinical applicability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Xu et al., 2024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Learning-Based Detection of Primary Bone Tumors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Developed detection model on radiographs; outperformed junior radiologists and showed strong localization capability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Wang et al., 2025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 Models for Bone Tumor Classification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Compared multiple DL models (CNN, Transformer); showed strong performance but highlighted misclassification challenges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Bokhari et al., 2026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Deep Learning Radiographic Classification of Bone Tumors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Multi-class classification (9 tumor types); demonstrated advanced DL architectures for complex classification tasks</a:t>
                      </a:r>
                      <a:endParaRPr sz="15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3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Papageorgiou et al., 2025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YOLO-Based Bone Tumor Detection &amp; Classification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Applied YOLO for end-to-end detection + classification on radiographs; showed scalability and real-time potential</a:t>
                      </a:r>
                      <a:endParaRPr sz="15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4697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29530-2530-02B7-E20B-609243B19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9108-9EB3-126A-D75F-6A04A38C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50A39-8D29-BAF5-0B43-03B3F9E723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19768" y="5975351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E150AF-F4BE-3CB5-91A0-554416F63281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graphicFrame>
        <p:nvGraphicFramePr>
          <p:cNvPr id="7" name="Google Shape;180;p31">
            <a:extLst>
              <a:ext uri="{FF2B5EF4-FFF2-40B4-BE49-F238E27FC236}">
                <a16:creationId xmlns:a16="http://schemas.microsoft.com/office/drawing/2014/main" id="{23597908-41C2-F2C9-5FBE-E2EFED8F47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631859"/>
              </p:ext>
            </p:extLst>
          </p:nvPr>
        </p:nvGraphicFramePr>
        <p:xfrm>
          <a:off x="1066800" y="1339442"/>
          <a:ext cx="10439400" cy="4559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Author(s) &amp; Year</a:t>
                      </a:r>
                      <a:endParaRPr sz="1800" u="none" strike="noStrike" cap="none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Paper Title (Standardized)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u="none" strike="noStrike" cap="none" dirty="0">
                          <a:solidFill>
                            <a:srgbClr val="1F1F1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/>
                        </a:rPr>
                        <a:t>Key Contributions / Work Details</a:t>
                      </a:r>
                      <a:endParaRPr sz="18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Kaczmarczyk et al., 2025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Vision-Language Models for Automatic Bone Tumor Recognition on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vision-language models for bone tumor recognition; improved multimodal understanding and diagnostic performance.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Zimbalist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Bone Lesion Detection on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robust lesion detection framework using deep learning; achieved high detection accuracy on radiographs.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Gitto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Bone Tumor Imaging: Current Advances and Clinical Applications</a:t>
                      </a:r>
                      <a:endParaRPr lang="en-US"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AI advances in bone tumor imaging, covering detection, segmentation, classification, and future challenges.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24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Hinterwimmer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2024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Recommender-Based Bone Tumor Classification with Radiographs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explainable recommender-based framework for multi-class bone tumor classification using radiographs.</a:t>
                      </a:r>
                      <a:endParaRPr sz="1600" u="none" strike="noStrike" cap="none" dirty="0">
                        <a:solidFill>
                          <a:srgbClr val="1F1F1F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endParaRPr>
                    </a:p>
                  </a:txBody>
                  <a:tcPr marL="41575" marR="41575" marT="55425" marB="554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627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89639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1245D1-F376-F2FA-4CAA-E70C1466C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388067"/>
              </p:ext>
            </p:extLst>
          </p:nvPr>
        </p:nvGraphicFramePr>
        <p:xfrm>
          <a:off x="1524000" y="1218235"/>
          <a:ext cx="9448800" cy="511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792">
                  <a:extLst>
                    <a:ext uri="{9D8B030D-6E8A-4147-A177-3AD203B41FA5}">
                      <a16:colId xmlns:a16="http://schemas.microsoft.com/office/drawing/2014/main" val="3493514346"/>
                    </a:ext>
                  </a:extLst>
                </a:gridCol>
                <a:gridCol w="2096660">
                  <a:extLst>
                    <a:ext uri="{9D8B030D-6E8A-4147-A177-3AD203B41FA5}">
                      <a16:colId xmlns:a16="http://schemas.microsoft.com/office/drawing/2014/main" val="1907943213"/>
                    </a:ext>
                  </a:extLst>
                </a:gridCol>
                <a:gridCol w="1633772">
                  <a:extLst>
                    <a:ext uri="{9D8B030D-6E8A-4147-A177-3AD203B41FA5}">
                      <a16:colId xmlns:a16="http://schemas.microsoft.com/office/drawing/2014/main" val="1058336603"/>
                    </a:ext>
                  </a:extLst>
                </a:gridCol>
                <a:gridCol w="1703021">
                  <a:extLst>
                    <a:ext uri="{9D8B030D-6E8A-4147-A177-3AD203B41FA5}">
                      <a16:colId xmlns:a16="http://schemas.microsoft.com/office/drawing/2014/main" val="2731836561"/>
                    </a:ext>
                  </a:extLst>
                </a:gridCol>
                <a:gridCol w="1663555">
                  <a:extLst>
                    <a:ext uri="{9D8B030D-6E8A-4147-A177-3AD203B41FA5}">
                      <a16:colId xmlns:a16="http://schemas.microsoft.com/office/drawing/2014/main" val="332226819"/>
                    </a:ext>
                  </a:extLst>
                </a:gridCol>
              </a:tblGrid>
              <a:tr h="87687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CNN-Based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</a:t>
                      </a: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DetectionBased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Multimodal Research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</a:t>
                      </a: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BoneFusionNet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44164" marB="44164"/>
                </a:tc>
                <a:extLst>
                  <a:ext uri="{0D108BD9-81ED-4DB2-BD59-A6C34878D82A}">
                    <a16:rowId xmlns:a16="http://schemas.microsoft.com/office/drawing/2014/main" val="3241543795"/>
                  </a:ext>
                </a:extLst>
              </a:tr>
              <a:tr h="3785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Annotation-Free Inference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632827023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Patient-Level Data Partitioning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747890882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Calibration and Threshold Optimization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1095451678"/>
                  </a:ext>
                </a:extLst>
              </a:tr>
              <a:tr h="4629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 Metadata Integration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2590787534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Detection + Classification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993666271"/>
                  </a:ext>
                </a:extLst>
              </a:tr>
              <a:tr h="42552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Explainable AI Integration 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3699391706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Consistent Pipeline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1246452101"/>
                  </a:ext>
                </a:extLst>
              </a:tr>
              <a:tr h="2879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Fusion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3253329862"/>
                  </a:ext>
                </a:extLst>
              </a:tr>
              <a:tr h="50793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Lesion Detection Capability</a:t>
                      </a:r>
                      <a:endParaRPr lang="en-US" sz="15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164" marR="44164" marT="35331" marB="35331"/>
                </a:tc>
                <a:extLst>
                  <a:ext uri="{0D108BD9-81ED-4DB2-BD59-A6C34878D82A}">
                    <a16:rowId xmlns:a16="http://schemas.microsoft.com/office/drawing/2014/main" val="29717161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FF9886-9C18-37CA-D495-5A8528FD5C2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64D8-8C59-7D9E-B404-8CE93061EC37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Google Shape;193;p33">
            <a:extLst>
              <a:ext uri="{FF2B5EF4-FFF2-40B4-BE49-F238E27FC236}">
                <a16:creationId xmlns:a16="http://schemas.microsoft.com/office/drawing/2014/main" id="{35F1472A-0B4F-4EC9-2622-4F629E4C0289}"/>
              </a:ext>
            </a:extLst>
          </p:cNvPr>
          <p:cNvSpPr txBox="1">
            <a:spLocks/>
          </p:cNvSpPr>
          <p:nvPr/>
        </p:nvSpPr>
        <p:spPr>
          <a:xfrm>
            <a:off x="1828800" y="1761507"/>
            <a:ext cx="9391650" cy="4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0" indent="-260350" algn="just" fontAlgn="auto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detection-guided pipeline for tumor localization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deep learning model for benign vs malignant classification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clinical metadata using multimodal fusion (FusionNet)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calibration techniques for reliable probability outputs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patient-level, leakage-free evaluation</a:t>
            </a:r>
            <a:endParaRPr lang="en-US"/>
          </a:p>
          <a:p>
            <a:pPr marL="254000" indent="-260350" algn="just" fontAlgn="auto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Noto Sans Symbols"/>
              <a:buChar char="⮚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diagnostic accuracy and reduce false positives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A2A34-910C-52FB-12A8-FA252DB3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BF819-FC53-5253-B9E2-DE1A0CDF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Novelty of the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54D71-E901-049B-93F8-CAD5BC299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882494-1CF7-C6C6-FB3F-1E5CF30DAEE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5" name="Google Shape;201;p34">
            <a:extLst>
              <a:ext uri="{FF2B5EF4-FFF2-40B4-BE49-F238E27FC236}">
                <a16:creationId xmlns:a16="http://schemas.microsoft.com/office/drawing/2014/main" id="{27A7013E-6918-C858-2313-25D36C8546C2}"/>
              </a:ext>
            </a:extLst>
          </p:cNvPr>
          <p:cNvSpPr/>
          <p:nvPr/>
        </p:nvSpPr>
        <p:spPr>
          <a:xfrm>
            <a:off x="2418745" y="1965121"/>
            <a:ext cx="2793392" cy="149353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202;p34">
            <a:extLst>
              <a:ext uri="{FF2B5EF4-FFF2-40B4-BE49-F238E27FC236}">
                <a16:creationId xmlns:a16="http://schemas.microsoft.com/office/drawing/2014/main" id="{0853C758-573A-58DA-58B4-A63F7473B86C}"/>
              </a:ext>
            </a:extLst>
          </p:cNvPr>
          <p:cNvSpPr/>
          <p:nvPr/>
        </p:nvSpPr>
        <p:spPr>
          <a:xfrm>
            <a:off x="2487325" y="2033701"/>
            <a:ext cx="399056" cy="354330"/>
          </a:xfrm>
          <a:prstGeom prst="ellipse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203;p34">
            <a:extLst>
              <a:ext uri="{FF2B5EF4-FFF2-40B4-BE49-F238E27FC236}">
                <a16:creationId xmlns:a16="http://schemas.microsoft.com/office/drawing/2014/main" id="{F6CAE946-724A-C34F-C991-2341467E6E93}"/>
              </a:ext>
            </a:extLst>
          </p:cNvPr>
          <p:cNvSpPr/>
          <p:nvPr/>
        </p:nvSpPr>
        <p:spPr>
          <a:xfrm>
            <a:off x="2487325" y="2033701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204;p34">
            <a:extLst>
              <a:ext uri="{FF2B5EF4-FFF2-40B4-BE49-F238E27FC236}">
                <a16:creationId xmlns:a16="http://schemas.microsoft.com/office/drawing/2014/main" id="{8CF870CD-7B9F-C6B1-F9F9-D32F9F8737C7}"/>
              </a:ext>
            </a:extLst>
          </p:cNvPr>
          <p:cNvSpPr/>
          <p:nvPr/>
        </p:nvSpPr>
        <p:spPr>
          <a:xfrm>
            <a:off x="2812112" y="2183920"/>
            <a:ext cx="1991942" cy="1182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Detection-guided pipeline without manual annotations</a:t>
            </a:r>
            <a:endParaRPr sz="1100"/>
          </a:p>
        </p:txBody>
      </p:sp>
      <p:sp>
        <p:nvSpPr>
          <p:cNvPr id="10" name="Google Shape;205;p34">
            <a:extLst>
              <a:ext uri="{FF2B5EF4-FFF2-40B4-BE49-F238E27FC236}">
                <a16:creationId xmlns:a16="http://schemas.microsoft.com/office/drawing/2014/main" id="{693D2DB7-AF0D-E382-DF39-4F7000F40616}"/>
              </a:ext>
            </a:extLst>
          </p:cNvPr>
          <p:cNvSpPr/>
          <p:nvPr/>
        </p:nvSpPr>
        <p:spPr>
          <a:xfrm>
            <a:off x="4953000" y="1965120"/>
            <a:ext cx="2638659" cy="1493533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17A65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06;p34">
            <a:extLst>
              <a:ext uri="{FF2B5EF4-FFF2-40B4-BE49-F238E27FC236}">
                <a16:creationId xmlns:a16="http://schemas.microsoft.com/office/drawing/2014/main" id="{E85957E9-ECCB-78C6-B3BB-CD5F540FB0AB}"/>
              </a:ext>
            </a:extLst>
          </p:cNvPr>
          <p:cNvSpPr/>
          <p:nvPr/>
        </p:nvSpPr>
        <p:spPr>
          <a:xfrm>
            <a:off x="4983637" y="2033701"/>
            <a:ext cx="399056" cy="354330"/>
          </a:xfrm>
          <a:prstGeom prst="ellipse">
            <a:avLst/>
          </a:prstGeom>
          <a:solidFill>
            <a:srgbClr val="117A65"/>
          </a:solidFill>
          <a:ln w="12700" cap="flat" cmpd="sng">
            <a:solidFill>
              <a:srgbClr val="117A6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207;p34">
            <a:extLst>
              <a:ext uri="{FF2B5EF4-FFF2-40B4-BE49-F238E27FC236}">
                <a16:creationId xmlns:a16="http://schemas.microsoft.com/office/drawing/2014/main" id="{38DE04B2-6C47-10B5-9BE6-5C1232D724F4}"/>
              </a:ext>
            </a:extLst>
          </p:cNvPr>
          <p:cNvSpPr/>
          <p:nvPr/>
        </p:nvSpPr>
        <p:spPr>
          <a:xfrm>
            <a:off x="4983637" y="2033701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208;p34">
            <a:extLst>
              <a:ext uri="{FF2B5EF4-FFF2-40B4-BE49-F238E27FC236}">
                <a16:creationId xmlns:a16="http://schemas.microsoft.com/office/drawing/2014/main" id="{30902785-C9B6-EBFF-B87D-0F1C7CB55E14}"/>
              </a:ext>
            </a:extLst>
          </p:cNvPr>
          <p:cNvSpPr/>
          <p:nvPr/>
        </p:nvSpPr>
        <p:spPr>
          <a:xfrm>
            <a:off x="5316396" y="2506534"/>
            <a:ext cx="2145992" cy="81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7A65"/>
              </a:buClr>
              <a:buSzPts val="1500"/>
              <a:buFont typeface="Times New Roman"/>
              <a:buNone/>
            </a:pPr>
            <a:r>
              <a:rPr lang="en" sz="1500" b="1" u="none">
                <a:solidFill>
                  <a:srgbClr val="117A6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integration of detection, classification, and fusion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209;p34">
            <a:extLst>
              <a:ext uri="{FF2B5EF4-FFF2-40B4-BE49-F238E27FC236}">
                <a16:creationId xmlns:a16="http://schemas.microsoft.com/office/drawing/2014/main" id="{4A961060-43F6-10F1-3BD8-896B02EC0461}"/>
              </a:ext>
            </a:extLst>
          </p:cNvPr>
          <p:cNvSpPr/>
          <p:nvPr/>
        </p:nvSpPr>
        <p:spPr>
          <a:xfrm>
            <a:off x="7584301" y="1965120"/>
            <a:ext cx="2133599" cy="1496672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10;p34">
            <a:extLst>
              <a:ext uri="{FF2B5EF4-FFF2-40B4-BE49-F238E27FC236}">
                <a16:creationId xmlns:a16="http://schemas.microsoft.com/office/drawing/2014/main" id="{3A1F52FD-DFDE-972E-50E1-6E324E562543}"/>
              </a:ext>
            </a:extLst>
          </p:cNvPr>
          <p:cNvSpPr/>
          <p:nvPr/>
        </p:nvSpPr>
        <p:spPr>
          <a:xfrm>
            <a:off x="7656941" y="2033700"/>
            <a:ext cx="399056" cy="354330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11;p34">
            <a:extLst>
              <a:ext uri="{FF2B5EF4-FFF2-40B4-BE49-F238E27FC236}">
                <a16:creationId xmlns:a16="http://schemas.microsoft.com/office/drawing/2014/main" id="{3F537532-2026-A56D-AF15-B8D37DB41D33}"/>
              </a:ext>
            </a:extLst>
          </p:cNvPr>
          <p:cNvSpPr/>
          <p:nvPr/>
        </p:nvSpPr>
        <p:spPr>
          <a:xfrm>
            <a:off x="7656941" y="2033700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12;p34">
            <a:extLst>
              <a:ext uri="{FF2B5EF4-FFF2-40B4-BE49-F238E27FC236}">
                <a16:creationId xmlns:a16="http://schemas.microsoft.com/office/drawing/2014/main" id="{87CFAE5E-5C43-C1E8-C1F3-A1EFCAC1643A}"/>
              </a:ext>
            </a:extLst>
          </p:cNvPr>
          <p:cNvSpPr/>
          <p:nvPr/>
        </p:nvSpPr>
        <p:spPr>
          <a:xfrm>
            <a:off x="7843438" y="2296765"/>
            <a:ext cx="1922624" cy="1011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500"/>
              <a:buFont typeface="Times New Roman"/>
              <a:buNone/>
            </a:pPr>
            <a:r>
              <a:rPr lang="en" sz="1500" b="1" u="none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fusion of radiographs + clinical metadata (FusionNet)</a:t>
            </a:r>
            <a:endParaRPr sz="1500" b="0" u="none">
              <a:solidFill>
                <a:srgbClr val="00B0F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213;p34">
            <a:extLst>
              <a:ext uri="{FF2B5EF4-FFF2-40B4-BE49-F238E27FC236}">
                <a16:creationId xmlns:a16="http://schemas.microsoft.com/office/drawing/2014/main" id="{67E3F19D-2207-FB3E-EFA3-6E21EAFEF4FF}"/>
              </a:ext>
            </a:extLst>
          </p:cNvPr>
          <p:cNvSpPr/>
          <p:nvPr/>
        </p:nvSpPr>
        <p:spPr>
          <a:xfrm>
            <a:off x="2411387" y="3467022"/>
            <a:ext cx="2793392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D4AC0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214;p34">
            <a:extLst>
              <a:ext uri="{FF2B5EF4-FFF2-40B4-BE49-F238E27FC236}">
                <a16:creationId xmlns:a16="http://schemas.microsoft.com/office/drawing/2014/main" id="{8B564D7C-547F-5466-FC84-85C3EFEDF3CA}"/>
              </a:ext>
            </a:extLst>
          </p:cNvPr>
          <p:cNvSpPr/>
          <p:nvPr/>
        </p:nvSpPr>
        <p:spPr>
          <a:xfrm>
            <a:off x="2479967" y="3533316"/>
            <a:ext cx="399056" cy="354330"/>
          </a:xfrm>
          <a:prstGeom prst="ellipse">
            <a:avLst/>
          </a:prstGeom>
          <a:solidFill>
            <a:srgbClr val="D4AC0D"/>
          </a:solidFill>
          <a:ln w="12700" cap="flat" cmpd="sng">
            <a:solidFill>
              <a:srgbClr val="D4AC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15;p34">
            <a:extLst>
              <a:ext uri="{FF2B5EF4-FFF2-40B4-BE49-F238E27FC236}">
                <a16:creationId xmlns:a16="http://schemas.microsoft.com/office/drawing/2014/main" id="{EA32B3F5-99C5-FF99-CDB7-17589D93F874}"/>
              </a:ext>
            </a:extLst>
          </p:cNvPr>
          <p:cNvSpPr/>
          <p:nvPr/>
        </p:nvSpPr>
        <p:spPr>
          <a:xfrm>
            <a:off x="2479967" y="3533316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6;p34">
            <a:extLst>
              <a:ext uri="{FF2B5EF4-FFF2-40B4-BE49-F238E27FC236}">
                <a16:creationId xmlns:a16="http://schemas.microsoft.com/office/drawing/2014/main" id="{69912C84-07AC-01AB-7D45-FA539FC0E4EB}"/>
              </a:ext>
            </a:extLst>
          </p:cNvPr>
          <p:cNvSpPr/>
          <p:nvPr/>
        </p:nvSpPr>
        <p:spPr>
          <a:xfrm>
            <a:off x="2785414" y="3884702"/>
            <a:ext cx="2060051" cy="862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4AC0D"/>
              </a:buClr>
              <a:buSzPts val="1500"/>
              <a:buFont typeface="Times New Roman"/>
              <a:buNone/>
            </a:pPr>
            <a:r>
              <a:rPr lang="en" sz="1500" b="1" u="none">
                <a:solidFill>
                  <a:srgbClr val="D4AC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Probability calibration for reliable predictions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17;p34">
            <a:extLst>
              <a:ext uri="{FF2B5EF4-FFF2-40B4-BE49-F238E27FC236}">
                <a16:creationId xmlns:a16="http://schemas.microsoft.com/office/drawing/2014/main" id="{9AC953E4-ACDA-4239-53DC-E314ADE845CD}"/>
              </a:ext>
            </a:extLst>
          </p:cNvPr>
          <p:cNvSpPr/>
          <p:nvPr/>
        </p:nvSpPr>
        <p:spPr>
          <a:xfrm>
            <a:off x="4952999" y="3458653"/>
            <a:ext cx="2631304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18;p34">
            <a:extLst>
              <a:ext uri="{FF2B5EF4-FFF2-40B4-BE49-F238E27FC236}">
                <a16:creationId xmlns:a16="http://schemas.microsoft.com/office/drawing/2014/main" id="{1A77A3A8-8EE7-60DF-74CA-F63B139AA583}"/>
              </a:ext>
            </a:extLst>
          </p:cNvPr>
          <p:cNvSpPr/>
          <p:nvPr/>
        </p:nvSpPr>
        <p:spPr>
          <a:xfrm>
            <a:off x="5023443" y="3580160"/>
            <a:ext cx="399056" cy="354330"/>
          </a:xfrm>
          <a:prstGeom prst="ellipse">
            <a:avLst/>
          </a:prstGeom>
          <a:solidFill>
            <a:srgbClr val="C00000"/>
          </a:solidFill>
          <a:ln w="12700" cap="flat" cmpd="sng">
            <a:solidFill>
              <a:srgbClr val="1E84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" name="Google Shape;219;p34">
            <a:extLst>
              <a:ext uri="{FF2B5EF4-FFF2-40B4-BE49-F238E27FC236}">
                <a16:creationId xmlns:a16="http://schemas.microsoft.com/office/drawing/2014/main" id="{6AFA48F2-1894-D120-22A6-050A79105AB4}"/>
              </a:ext>
            </a:extLst>
          </p:cNvPr>
          <p:cNvSpPr/>
          <p:nvPr/>
        </p:nvSpPr>
        <p:spPr>
          <a:xfrm>
            <a:off x="5023443" y="3580160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Google Shape;220;p34">
            <a:extLst>
              <a:ext uri="{FF2B5EF4-FFF2-40B4-BE49-F238E27FC236}">
                <a16:creationId xmlns:a16="http://schemas.microsoft.com/office/drawing/2014/main" id="{F61EF49D-29D5-0528-6D8C-CCD249C51E0F}"/>
              </a:ext>
            </a:extLst>
          </p:cNvPr>
          <p:cNvSpPr/>
          <p:nvPr/>
        </p:nvSpPr>
        <p:spPr>
          <a:xfrm>
            <a:off x="5478605" y="3839774"/>
            <a:ext cx="2021387" cy="90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Patient-level, leakage-free evaluation for realistic performance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u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21;p34">
            <a:extLst>
              <a:ext uri="{FF2B5EF4-FFF2-40B4-BE49-F238E27FC236}">
                <a16:creationId xmlns:a16="http://schemas.microsoft.com/office/drawing/2014/main" id="{2594F916-A9D0-0BD6-1D7F-C8739C52607C}"/>
              </a:ext>
            </a:extLst>
          </p:cNvPr>
          <p:cNvSpPr/>
          <p:nvPr/>
        </p:nvSpPr>
        <p:spPr>
          <a:xfrm>
            <a:off x="2895776" y="4615240"/>
            <a:ext cx="1572834" cy="42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ADI +20% · MUS +20% · STR -13%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" name="Google Shape;222;p34">
            <a:extLst>
              <a:ext uri="{FF2B5EF4-FFF2-40B4-BE49-F238E27FC236}">
                <a16:creationId xmlns:a16="http://schemas.microsoft.com/office/drawing/2014/main" id="{D6CFB3ED-3EA8-AD38-E0B5-62DB80FA7670}"/>
              </a:ext>
            </a:extLst>
          </p:cNvPr>
          <p:cNvSpPr/>
          <p:nvPr/>
        </p:nvSpPr>
        <p:spPr>
          <a:xfrm>
            <a:off x="7584301" y="3461792"/>
            <a:ext cx="2133599" cy="1417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23;p34">
            <a:extLst>
              <a:ext uri="{FF2B5EF4-FFF2-40B4-BE49-F238E27FC236}">
                <a16:creationId xmlns:a16="http://schemas.microsoft.com/office/drawing/2014/main" id="{004ED26D-C2D2-E462-F6BD-92901D536CF0}"/>
              </a:ext>
            </a:extLst>
          </p:cNvPr>
          <p:cNvSpPr/>
          <p:nvPr/>
        </p:nvSpPr>
        <p:spPr>
          <a:xfrm>
            <a:off x="7652882" y="3530372"/>
            <a:ext cx="399056" cy="354330"/>
          </a:xfrm>
          <a:prstGeom prst="ellipse">
            <a:avLst/>
          </a:prstGeom>
          <a:solidFill>
            <a:srgbClr val="7030A0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24;p34">
            <a:extLst>
              <a:ext uri="{FF2B5EF4-FFF2-40B4-BE49-F238E27FC236}">
                <a16:creationId xmlns:a16="http://schemas.microsoft.com/office/drawing/2014/main" id="{BE6A5592-640F-C1CF-3F3C-FBE698C63AB8}"/>
              </a:ext>
            </a:extLst>
          </p:cNvPr>
          <p:cNvSpPr/>
          <p:nvPr/>
        </p:nvSpPr>
        <p:spPr>
          <a:xfrm>
            <a:off x="7652882" y="3530372"/>
            <a:ext cx="3990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Times New Roman"/>
              <a:buNone/>
            </a:pPr>
            <a:r>
              <a:rPr lang="en" sz="1200" b="1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sz="1200" b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225;p34">
            <a:extLst>
              <a:ext uri="{FF2B5EF4-FFF2-40B4-BE49-F238E27FC236}">
                <a16:creationId xmlns:a16="http://schemas.microsoft.com/office/drawing/2014/main" id="{096AB6C2-915B-AB07-CFDB-90304BE3A879}"/>
              </a:ext>
            </a:extLst>
          </p:cNvPr>
          <p:cNvSpPr/>
          <p:nvPr/>
        </p:nvSpPr>
        <p:spPr>
          <a:xfrm>
            <a:off x="7975602" y="3689106"/>
            <a:ext cx="1622131" cy="1057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u="non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(Grad-CAM++, IG) for clinical trust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20274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ED34C-F2CE-1904-46F5-88AEBCFDC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8F151-7ED2-C606-99FB-D15E7A10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50838"/>
            <a:ext cx="94488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Dataset, Tools &amp; Techniques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1460F-2BC7-EBFF-8ED1-489F5E220A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1104" y="601980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501D11-526D-F3D4-2D04-828C5DF8BC5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Google Shape;232;p35">
            <a:extLst>
              <a:ext uri="{FF2B5EF4-FFF2-40B4-BE49-F238E27FC236}">
                <a16:creationId xmlns:a16="http://schemas.microsoft.com/office/drawing/2014/main" id="{3E5F72A4-06F1-D7B6-0D08-2F4A80DF7B02}"/>
              </a:ext>
            </a:extLst>
          </p:cNvPr>
          <p:cNvSpPr/>
          <p:nvPr/>
        </p:nvSpPr>
        <p:spPr>
          <a:xfrm>
            <a:off x="2133600" y="2014805"/>
            <a:ext cx="3593726" cy="15344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233;p35">
            <a:extLst>
              <a:ext uri="{FF2B5EF4-FFF2-40B4-BE49-F238E27FC236}">
                <a16:creationId xmlns:a16="http://schemas.microsoft.com/office/drawing/2014/main" id="{3A67498B-060B-7E68-85DB-7D2C7BBE5C24}"/>
              </a:ext>
            </a:extLst>
          </p:cNvPr>
          <p:cNvSpPr/>
          <p:nvPr/>
        </p:nvSpPr>
        <p:spPr>
          <a:xfrm>
            <a:off x="2133600" y="2014806"/>
            <a:ext cx="3593726" cy="46032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234;p35">
            <a:extLst>
              <a:ext uri="{FF2B5EF4-FFF2-40B4-BE49-F238E27FC236}">
                <a16:creationId xmlns:a16="http://schemas.microsoft.com/office/drawing/2014/main" id="{2DAEAF7D-7999-F30C-9898-8F878F1811ED}"/>
              </a:ext>
            </a:extLst>
          </p:cNvPr>
          <p:cNvSpPr/>
          <p:nvPr/>
        </p:nvSpPr>
        <p:spPr>
          <a:xfrm>
            <a:off x="2202180" y="2049095"/>
            <a:ext cx="3317285" cy="2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1500" b="1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235;p35">
            <a:extLst>
              <a:ext uri="{FF2B5EF4-FFF2-40B4-BE49-F238E27FC236}">
                <a16:creationId xmlns:a16="http://schemas.microsoft.com/office/drawing/2014/main" id="{08743161-1CCB-D793-7459-345C283FADEF}"/>
              </a:ext>
            </a:extLst>
          </p:cNvPr>
          <p:cNvSpPr/>
          <p:nvPr/>
        </p:nvSpPr>
        <p:spPr>
          <a:xfrm>
            <a:off x="2202181" y="2309699"/>
            <a:ext cx="3593726" cy="11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BTXRD Radiograph Dataset including-</a:t>
            </a:r>
            <a:endParaRPr sz="11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Bone X-ray images (Benign, Malignant, Normal)</a:t>
            </a:r>
            <a:endParaRPr sz="11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Tumor bounding box annotations</a:t>
            </a:r>
            <a:endParaRPr sz="11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metadata (age, gender, location etc)</a:t>
            </a:r>
            <a:endParaRPr sz="1100" dirty="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" sz="13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Multi-center</a:t>
            </a:r>
            <a:endParaRPr sz="1100" dirty="0"/>
          </a:p>
        </p:txBody>
      </p:sp>
      <p:sp>
        <p:nvSpPr>
          <p:cNvPr id="10" name="Google Shape;236;p35">
            <a:extLst>
              <a:ext uri="{FF2B5EF4-FFF2-40B4-BE49-F238E27FC236}">
                <a16:creationId xmlns:a16="http://schemas.microsoft.com/office/drawing/2014/main" id="{4CBE1D83-BE76-6F2F-D303-49E00763E33D}"/>
              </a:ext>
            </a:extLst>
          </p:cNvPr>
          <p:cNvSpPr/>
          <p:nvPr/>
        </p:nvSpPr>
        <p:spPr>
          <a:xfrm>
            <a:off x="6191251" y="2045551"/>
            <a:ext cx="3593726" cy="15344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237;p35">
            <a:extLst>
              <a:ext uri="{FF2B5EF4-FFF2-40B4-BE49-F238E27FC236}">
                <a16:creationId xmlns:a16="http://schemas.microsoft.com/office/drawing/2014/main" id="{0D5C499B-4B04-5864-7834-DE64A13A8F6B}"/>
              </a:ext>
            </a:extLst>
          </p:cNvPr>
          <p:cNvSpPr/>
          <p:nvPr/>
        </p:nvSpPr>
        <p:spPr>
          <a:xfrm>
            <a:off x="6191251" y="2045552"/>
            <a:ext cx="3593726" cy="46032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238;p35">
            <a:extLst>
              <a:ext uri="{FF2B5EF4-FFF2-40B4-BE49-F238E27FC236}">
                <a16:creationId xmlns:a16="http://schemas.microsoft.com/office/drawing/2014/main" id="{F143C3D1-03CD-4035-554A-B662E1DCA908}"/>
              </a:ext>
            </a:extLst>
          </p:cNvPr>
          <p:cNvSpPr/>
          <p:nvPr/>
        </p:nvSpPr>
        <p:spPr>
          <a:xfrm>
            <a:off x="6259831" y="2079841"/>
            <a:ext cx="3317285" cy="2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1500" b="1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239;p35">
            <a:extLst>
              <a:ext uri="{FF2B5EF4-FFF2-40B4-BE49-F238E27FC236}">
                <a16:creationId xmlns:a16="http://schemas.microsoft.com/office/drawing/2014/main" id="{FA06A6B8-1791-8550-81A1-B5E09487820B}"/>
              </a:ext>
            </a:extLst>
          </p:cNvPr>
          <p:cNvSpPr/>
          <p:nvPr/>
        </p:nvSpPr>
        <p:spPr>
          <a:xfrm>
            <a:off x="6355977" y="2340445"/>
            <a:ext cx="3525146" cy="125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R-CNN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tumor detection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ConvNeXt-Tiny-SE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classification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Multimodal Fusion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(FusionNet) 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StratifiedGroupKFold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(patient-level split)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Explainability 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(Grad-CAM++, Integrated Gradients) </a:t>
            </a:r>
            <a:endParaRPr sz="1100"/>
          </a:p>
        </p:txBody>
      </p:sp>
      <p:sp>
        <p:nvSpPr>
          <p:cNvPr id="14" name="Google Shape;240;p35">
            <a:extLst>
              <a:ext uri="{FF2B5EF4-FFF2-40B4-BE49-F238E27FC236}">
                <a16:creationId xmlns:a16="http://schemas.microsoft.com/office/drawing/2014/main" id="{BEA49D3A-6480-78EC-9DC5-5F43EB7C7FD6}"/>
              </a:ext>
            </a:extLst>
          </p:cNvPr>
          <p:cNvSpPr/>
          <p:nvPr/>
        </p:nvSpPr>
        <p:spPr>
          <a:xfrm>
            <a:off x="4070207" y="3807774"/>
            <a:ext cx="3593726" cy="1534408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241;p35">
            <a:extLst>
              <a:ext uri="{FF2B5EF4-FFF2-40B4-BE49-F238E27FC236}">
                <a16:creationId xmlns:a16="http://schemas.microsoft.com/office/drawing/2014/main" id="{5E20FB55-98EA-8306-F24D-43F25211A3F3}"/>
              </a:ext>
            </a:extLst>
          </p:cNvPr>
          <p:cNvSpPr/>
          <p:nvPr/>
        </p:nvSpPr>
        <p:spPr>
          <a:xfrm>
            <a:off x="4070207" y="3807774"/>
            <a:ext cx="3593726" cy="46032"/>
          </a:xfrm>
          <a:prstGeom prst="rect">
            <a:avLst/>
          </a:prstGeom>
          <a:solidFill>
            <a:srgbClr val="2980B9"/>
          </a:solidFill>
          <a:ln w="12700" cap="flat" cmpd="sng">
            <a:solidFill>
              <a:srgbClr val="2980B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242;p35">
            <a:extLst>
              <a:ext uri="{FF2B5EF4-FFF2-40B4-BE49-F238E27FC236}">
                <a16:creationId xmlns:a16="http://schemas.microsoft.com/office/drawing/2014/main" id="{EBCBE482-9866-6F4D-358B-86472DA548C4}"/>
              </a:ext>
            </a:extLst>
          </p:cNvPr>
          <p:cNvSpPr/>
          <p:nvPr/>
        </p:nvSpPr>
        <p:spPr>
          <a:xfrm>
            <a:off x="4138787" y="3842063"/>
            <a:ext cx="3317285" cy="245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980B9"/>
              </a:buClr>
              <a:buSzPts val="1500"/>
              <a:buFont typeface="Times New Roman"/>
              <a:buNone/>
            </a:pPr>
            <a:r>
              <a:rPr lang="en" sz="1500" b="1">
                <a:solidFill>
                  <a:srgbClr val="2980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243;p35">
            <a:extLst>
              <a:ext uri="{FF2B5EF4-FFF2-40B4-BE49-F238E27FC236}">
                <a16:creationId xmlns:a16="http://schemas.microsoft.com/office/drawing/2014/main" id="{F71FD6F2-4F5F-C9A9-0D24-C0E430FCC633}"/>
              </a:ext>
            </a:extLst>
          </p:cNvPr>
          <p:cNvSpPr/>
          <p:nvPr/>
        </p:nvSpPr>
        <p:spPr>
          <a:xfrm>
            <a:off x="4183380" y="4123713"/>
            <a:ext cx="3467997" cy="1193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Detectron2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(model development)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Scikit-learn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(metadata modeling, calibration)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(web interface)</a:t>
            </a:r>
            <a:endParaRPr sz="1100"/>
          </a:p>
          <a:p>
            <a:pPr marL="215900" marR="0" lvl="0" indent="-2222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⮚"/>
            </a:pPr>
            <a:r>
              <a:rPr lang="en" sz="13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 GPU (Tesla T4)</a:t>
            </a: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2927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70986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6344" y="5961650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28C-6541-3FC8-24E6-91C1C409DF5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6" name="Google Shape;251;p36">
            <a:extLst>
              <a:ext uri="{FF2B5EF4-FFF2-40B4-BE49-F238E27FC236}">
                <a16:creationId xmlns:a16="http://schemas.microsoft.com/office/drawing/2014/main" id="{4A26D3FE-C65B-8221-06BC-E1A88E3E7C7F}"/>
              </a:ext>
            </a:extLst>
          </p:cNvPr>
          <p:cNvSpPr txBox="1"/>
          <p:nvPr/>
        </p:nvSpPr>
        <p:spPr>
          <a:xfrm>
            <a:off x="2209800" y="5399559"/>
            <a:ext cx="7034213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1. Overv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of the Proposed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8562AF-F92C-FB78-E6B1-E8080249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21" b="10086"/>
          <a:stretch>
            <a:fillRect/>
          </a:stretch>
        </p:blipFill>
        <p:spPr>
          <a:xfrm>
            <a:off x="1371600" y="1143000"/>
            <a:ext cx="9673514" cy="428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64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9E5C-71F2-3105-2435-0102C133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1926-D2A5-F445-0117-A4074CC9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Result and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640-2CE5-2763-409D-C0C0D296CB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89637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107DCE-C8F0-F713-FD9B-EE4C76142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42444"/>
              </p:ext>
            </p:extLst>
          </p:nvPr>
        </p:nvGraphicFramePr>
        <p:xfrm>
          <a:off x="838200" y="1602543"/>
          <a:ext cx="10744200" cy="3414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740">
                  <a:extLst>
                    <a:ext uri="{9D8B030D-6E8A-4147-A177-3AD203B41FA5}">
                      <a16:colId xmlns:a16="http://schemas.microsoft.com/office/drawing/2014/main" val="2533175138"/>
                    </a:ext>
                  </a:extLst>
                </a:gridCol>
                <a:gridCol w="1512238">
                  <a:extLst>
                    <a:ext uri="{9D8B030D-6E8A-4147-A177-3AD203B41FA5}">
                      <a16:colId xmlns:a16="http://schemas.microsoft.com/office/drawing/2014/main" val="3481467627"/>
                    </a:ext>
                  </a:extLst>
                </a:gridCol>
                <a:gridCol w="1407947">
                  <a:extLst>
                    <a:ext uri="{9D8B030D-6E8A-4147-A177-3AD203B41FA5}">
                      <a16:colId xmlns:a16="http://schemas.microsoft.com/office/drawing/2014/main" val="1236056652"/>
                    </a:ext>
                  </a:extLst>
                </a:gridCol>
                <a:gridCol w="1512238">
                  <a:extLst>
                    <a:ext uri="{9D8B030D-6E8A-4147-A177-3AD203B41FA5}">
                      <a16:colId xmlns:a16="http://schemas.microsoft.com/office/drawing/2014/main" val="1696471824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1555820052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2933927354"/>
                    </a:ext>
                  </a:extLst>
                </a:gridCol>
                <a:gridCol w="1668679">
                  <a:extLst>
                    <a:ext uri="{9D8B030D-6E8A-4147-A177-3AD203B41FA5}">
                      <a16:colId xmlns:a16="http://schemas.microsoft.com/office/drawing/2014/main" val="1525533001"/>
                    </a:ext>
                  </a:extLst>
                </a:gridCol>
              </a:tblGrid>
              <a:tr h="89664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ROC-AUC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PR-AUC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Acc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MCC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20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Specificity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897688515"/>
                  </a:ext>
                </a:extLst>
              </a:tr>
              <a:tr h="899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Clinical-Only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0.516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0.488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0.545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1741239284"/>
                  </a:ext>
                </a:extLst>
              </a:tr>
              <a:tr h="71952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Image-Only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0.911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0.738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0.772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0.562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0.935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2768391838"/>
                  </a:ext>
                </a:extLst>
              </a:tr>
              <a:tr h="89940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FusionNet (Proposed)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0.903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0.757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0.790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0.634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600" b="1" u="none" strike="noStrike" cap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0.945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600" marR="68600" marT="34300" marB="34300" anchor="ctr"/>
                </a:tc>
                <a:extLst>
                  <a:ext uri="{0D108BD9-81ED-4DB2-BD59-A6C34878D82A}">
                    <a16:rowId xmlns:a16="http://schemas.microsoft.com/office/drawing/2014/main" val="7054280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B0481A9-B6A6-5839-3819-C47F1F1AA0A9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9" name="Google Shape;261;p37">
            <a:extLst>
              <a:ext uri="{FF2B5EF4-FFF2-40B4-BE49-F238E27FC236}">
                <a16:creationId xmlns:a16="http://schemas.microsoft.com/office/drawing/2014/main" id="{47EC8256-95AD-991B-82AB-9C8CE5F50BAD}"/>
              </a:ext>
            </a:extLst>
          </p:cNvPr>
          <p:cNvSpPr txBox="1"/>
          <p:nvPr/>
        </p:nvSpPr>
        <p:spPr>
          <a:xfrm>
            <a:off x="2819400" y="1267838"/>
            <a:ext cx="7490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1. Test Set Performance Comparison of Baseline and Proposed Models </a:t>
            </a:r>
            <a:endParaRPr sz="1100" dirty="0"/>
          </a:p>
        </p:txBody>
      </p:sp>
      <p:sp>
        <p:nvSpPr>
          <p:cNvPr id="13" name="Google Shape;259;p37">
            <a:extLst>
              <a:ext uri="{FF2B5EF4-FFF2-40B4-BE49-F238E27FC236}">
                <a16:creationId xmlns:a16="http://schemas.microsoft.com/office/drawing/2014/main" id="{FB4B537A-74EB-3044-6DB1-09A405D054EF}"/>
              </a:ext>
            </a:extLst>
          </p:cNvPr>
          <p:cNvSpPr/>
          <p:nvPr/>
        </p:nvSpPr>
        <p:spPr>
          <a:xfrm>
            <a:off x="2836606" y="5143868"/>
            <a:ext cx="6858000" cy="11422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Finding:  </a:t>
            </a: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FusionNet achieved the most balanced and reliable performance, outperforming clinical-only and improving stability over image-only by reducing false positives.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5956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E358-F6D0-98B8-3932-E93D7A0D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5E27-4BA2-D351-0A23-93CE6823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Model Performance Visualization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9DC2A-91DA-1E4C-3C2B-A6D7E2D9DB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027B79-99B1-93F5-FDB4-14C45155D38A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8" name="Google Shape;270;p38">
            <a:extLst>
              <a:ext uri="{FF2B5EF4-FFF2-40B4-BE49-F238E27FC236}">
                <a16:creationId xmlns:a16="http://schemas.microsoft.com/office/drawing/2014/main" id="{89305554-8CDF-87F2-4DCD-16739D9FCA5C}"/>
              </a:ext>
            </a:extLst>
          </p:cNvPr>
          <p:cNvSpPr txBox="1"/>
          <p:nvPr/>
        </p:nvSpPr>
        <p:spPr>
          <a:xfrm>
            <a:off x="1334801" y="5177918"/>
            <a:ext cx="9522398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2.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Test-Set Confusion Matrix of the (a)Detection Model (b)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ConvNeXt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-Tiny-SE Model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5AED6C-F156-3EEE-1C14-5F729E32C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35" y="1483259"/>
            <a:ext cx="3568455" cy="3317341"/>
          </a:xfrm>
          <a:prstGeom prst="rect">
            <a:avLst/>
          </a:prstGeom>
        </p:spPr>
      </p:pic>
      <p:pic>
        <p:nvPicPr>
          <p:cNvPr id="10" name="Google Shape;269;p38">
            <a:extLst>
              <a:ext uri="{FF2B5EF4-FFF2-40B4-BE49-F238E27FC236}">
                <a16:creationId xmlns:a16="http://schemas.microsoft.com/office/drawing/2014/main" id="{D1D0F381-45C7-CB73-53A7-57A9DC5EAB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7334" y="1636540"/>
            <a:ext cx="3568455" cy="3183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2547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19151-EE65-F867-548A-B5254C26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C504-1BCF-FA96-37EA-488F9CF5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Model Performance Visualization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456-7733-64E4-CE7E-587E40E8F8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6017676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14FC1-F67E-8203-7D5B-416E642361A4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Google Shape;268;p38">
            <a:extLst>
              <a:ext uri="{FF2B5EF4-FFF2-40B4-BE49-F238E27FC236}">
                <a16:creationId xmlns:a16="http://schemas.microsoft.com/office/drawing/2014/main" id="{DB871C09-CE17-4499-B644-5D8926ED3E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95400" y="1454316"/>
            <a:ext cx="4038600" cy="33140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70;p38">
            <a:extLst>
              <a:ext uri="{FF2B5EF4-FFF2-40B4-BE49-F238E27FC236}">
                <a16:creationId xmlns:a16="http://schemas.microsoft.com/office/drawing/2014/main" id="{7DFB3034-1349-47FF-FD73-207DA59554F1}"/>
              </a:ext>
            </a:extLst>
          </p:cNvPr>
          <p:cNvSpPr txBox="1"/>
          <p:nvPr/>
        </p:nvSpPr>
        <p:spPr>
          <a:xfrm>
            <a:off x="1569064" y="5041717"/>
            <a:ext cx="8444271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" sz="1600" dirty="0">
                <a:solidFill>
                  <a:schemeClr val="dk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Figure 2. (a) ROC curve comparison                               (b)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Precision-Recall Curves of fusion models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4F406D-DBD2-B81C-E83F-C14C1A4C5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483813"/>
            <a:ext cx="3886200" cy="331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0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CCF1-4663-0FAC-E557-C8C860184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699C-3280-7E27-A53B-6B90D91A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03507"/>
            <a:ext cx="8915400" cy="8683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Interface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21EDD-A921-29EF-524A-2EBB5538B2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89BB2-DBB6-BF76-BA68-3DFF2884AD82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557A4-8C10-1D75-BD84-2A0B6D1B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7" t="10571" r="3180" b="10175"/>
          <a:stretch>
            <a:fillRect/>
          </a:stretch>
        </p:blipFill>
        <p:spPr>
          <a:xfrm>
            <a:off x="1981199" y="1153387"/>
            <a:ext cx="7984033" cy="4485413"/>
          </a:xfrm>
          <a:prstGeom prst="rect">
            <a:avLst/>
          </a:prstGeom>
        </p:spPr>
      </p:pic>
      <p:sp>
        <p:nvSpPr>
          <p:cNvPr id="7" name="Google Shape;278;p39">
            <a:extLst>
              <a:ext uri="{FF2B5EF4-FFF2-40B4-BE49-F238E27FC236}">
                <a16:creationId xmlns:a16="http://schemas.microsoft.com/office/drawing/2014/main" id="{8A78535D-5ED4-1208-39C9-327FE9167C98}"/>
              </a:ext>
            </a:extLst>
          </p:cNvPr>
          <p:cNvSpPr txBox="1"/>
          <p:nvPr/>
        </p:nvSpPr>
        <p:spPr>
          <a:xfrm>
            <a:off x="3328914" y="5832544"/>
            <a:ext cx="5738885" cy="387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 Web-based interface of the BoneFusionNet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5071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 &amp; Future Work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37B8D-F57A-2BA3-3A76-E3DD8C73097F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3" name="Google Shape;285;p40">
            <a:extLst>
              <a:ext uri="{FF2B5EF4-FFF2-40B4-BE49-F238E27FC236}">
                <a16:creationId xmlns:a16="http://schemas.microsoft.com/office/drawing/2014/main" id="{9C61FFD2-1935-0738-4C03-5B70BE1765A5}"/>
              </a:ext>
            </a:extLst>
          </p:cNvPr>
          <p:cNvSpPr txBox="1"/>
          <p:nvPr/>
        </p:nvSpPr>
        <p:spPr>
          <a:xfrm>
            <a:off x="1447800" y="1568537"/>
            <a:ext cx="8892276" cy="1300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just">
              <a:spcBef>
                <a:spcPts val="0"/>
              </a:spcBef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BoneFusionNet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integrates tumor detection, ROI-based classification, multimodal fusion, and explainable AI into a unified framework for automated bone tumor classification. The proposed system achieved reliable performance and produced interpretable predictions for bone tumor classification.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86;p40">
            <a:extLst>
              <a:ext uri="{FF2B5EF4-FFF2-40B4-BE49-F238E27FC236}">
                <a16:creationId xmlns:a16="http://schemas.microsoft.com/office/drawing/2014/main" id="{8698524D-6E2E-BC4A-E004-D4EA38788097}"/>
              </a:ext>
            </a:extLst>
          </p:cNvPr>
          <p:cNvSpPr txBox="1"/>
          <p:nvPr/>
        </p:nvSpPr>
        <p:spPr>
          <a:xfrm>
            <a:off x="34413" y="3429000"/>
            <a:ext cx="4594160" cy="376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Works:</a:t>
            </a:r>
            <a:endParaRPr sz="1200" dirty="0"/>
          </a:p>
        </p:txBody>
      </p:sp>
      <p:sp>
        <p:nvSpPr>
          <p:cNvPr id="8" name="Google Shape;287;p40">
            <a:extLst>
              <a:ext uri="{FF2B5EF4-FFF2-40B4-BE49-F238E27FC236}">
                <a16:creationId xmlns:a16="http://schemas.microsoft.com/office/drawing/2014/main" id="{1EBD3E90-9C9D-CF7A-1D76-32D60018E41B}"/>
              </a:ext>
            </a:extLst>
          </p:cNvPr>
          <p:cNvSpPr txBox="1"/>
          <p:nvPr/>
        </p:nvSpPr>
        <p:spPr>
          <a:xfrm>
            <a:off x="3200400" y="3825561"/>
            <a:ext cx="5715000" cy="148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External validation on multi-center datasets.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Improve detection of small and subtle lesions.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marR="0" lvl="0" indent="-254000" algn="just" rtl="0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Extend to multi-modal imaging (CT/MRI).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 lvl="0" indent="-254000" algn="just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and evaluation in real-world clinical settings.</a:t>
            </a:r>
          </a:p>
        </p:txBody>
      </p:sp>
    </p:spTree>
    <p:extLst>
      <p:ext uri="{BB962C8B-B14F-4D97-AF65-F5344CB8AC3E}">
        <p14:creationId xmlns:p14="http://schemas.microsoft.com/office/powerpoint/2010/main" val="287370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BAAE9-3B4C-FCEC-50FC-12FB4062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1CA16-AE0D-D369-FE42-59C7313CB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9219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097F1-FADA-324C-E90E-73FFCAEF90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347200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FB2A1-531C-6EF4-8574-EB5912211BF6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839620-3768-DA55-81BF-FA09A9183A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8250" y="967581"/>
            <a:ext cx="9715500" cy="63246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L. Song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 deep learning model to enhance the classification of primary bone tumors based on incomplete multimodal images in X-ray, CT, and MRI,”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Cancer Imaging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24, Art. no. 135, 2024,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10.1186/s40644-024-00784-7.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D. Xu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“Deep learning-based detection of primary bone tumors around the knee joint on radiographs: A multicenter study,”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Imaging in Medicine and Surgery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8, pp. 5420–5433, 2024,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10.21037/qims-23-1743.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H. Wang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“Deep learning models in classifying primary bone tumors and bone infections based on radiographs,” </a:t>
            </a:r>
            <a:r>
              <a:rPr lang="en-US" sz="1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Precision Oncology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9, Art. no. 72, 2025,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10.1038/s41698-025-00855-3.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S. M. Bokhari and M. Shafi, “Deep learning driven radiographic classification of primary bone tumors using attention augmented hybrid models,”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Biomedical Signal Processing and Control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113, Art. no. 108888, 2026,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10.1016/j.bspc.2025.108888.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J. Li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“Primary bone tumor detection and classification in full-field bone radiographs via YOLO deep learning model,”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European Radiology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33, pp. 4237–4248, 2023,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10.1007/s00330-022-09289-y.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R. Kaczmarczyk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“Application of vision-language models in the automatic recognition of bone tumors on radiographs: A retrospective study,”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12, Art. no. 327, 2025,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10.3390/ai6120327.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T. Zimbalist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“Detecting bone lesions in X-ray under diverse acquisition conditions,”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Medical Imaging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2, Art. no. 024502, 2024,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10.1117/1.JMI.11.2.024502.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X. Zhou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“Emerging applications of deep learning in bone tumors: Current advances and challenges,”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Frontiers in Oncology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Art. no. 908873, 2022,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10.3389/fonc.2022.908873.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F.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Hinterwimmer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“Impact of metadata in multimodal classification of bone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tumours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BMC Musculoskeletal Disorders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25, Art. no. 822, 2024,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10.1186/s12891-024-07934-9.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S. Yao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“A radiograph dataset for the classification, localization, and segmentation of primary bone tumors,” </a:t>
            </a:r>
            <a:r>
              <a:rPr lang="en-US" sz="1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Scientific Data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12, Art. no. 88, 2025, </a:t>
            </a:r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10.1038/s41597-024-04311-y.</a:t>
            </a: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46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>
          <a:xfrm>
            <a:off x="9350248" y="5959475"/>
            <a:ext cx="2844800" cy="365125"/>
          </a:xfrm>
        </p:spPr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B629C-0461-0D8C-DA5C-C136AD5443E5}"/>
              </a:ext>
            </a:extLst>
          </p:cNvPr>
          <p:cNvSpPr txBox="1"/>
          <p:nvPr/>
        </p:nvSpPr>
        <p:spPr>
          <a:xfrm>
            <a:off x="8915400" y="6412468"/>
            <a:ext cx="3276600" cy="369332"/>
          </a:xfrm>
          <a:prstGeom prst="rect">
            <a:avLst/>
          </a:prstGeom>
          <a:solidFill>
            <a:srgbClr val="4F81BD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chemeClr val="bg1"/>
                </a:solidFill>
              </a:rPr>
              <a:t>B.Sc. Final-Defense</a:t>
            </a:r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2449</TotalTime>
  <Words>1511</Words>
  <Application>Microsoft Office PowerPoint</Application>
  <PresentationFormat>Widescreen</PresentationFormat>
  <Paragraphs>241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Noto Sans Symbols</vt:lpstr>
      <vt:lpstr>Times New Roman</vt:lpstr>
      <vt:lpstr>New Microsoft PowerPoint Presentation</vt:lpstr>
      <vt:lpstr>BoneFusionNet: A Detection-Guided Multimodal DeepLearning Framework with Clinical Metadata Fusion for  Bone Tumor Classification on Radiographs</vt:lpstr>
      <vt:lpstr>Outline</vt:lpstr>
      <vt:lpstr>Introduction</vt:lpstr>
      <vt:lpstr>Background Study</vt:lpstr>
      <vt:lpstr>Background Study</vt:lpstr>
      <vt:lpstr>Gap Analysis</vt:lpstr>
      <vt:lpstr>Objective</vt:lpstr>
      <vt:lpstr>Novelty of the Work</vt:lpstr>
      <vt:lpstr>Dataset, Tools &amp; Techniques</vt:lpstr>
      <vt:lpstr>Methodology</vt:lpstr>
      <vt:lpstr>Result and Analysis</vt:lpstr>
      <vt:lpstr>Model Performance Visualization</vt:lpstr>
      <vt:lpstr>Model Performance Visualization</vt:lpstr>
      <vt:lpstr>System Interface</vt:lpstr>
      <vt:lpstr>Conclusion &amp; Future Work</vt:lpstr>
      <vt:lpstr>References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Mohayminul Mukit</cp:lastModifiedBy>
  <cp:revision>272</cp:revision>
  <dcterms:created xsi:type="dcterms:W3CDTF">2011-07-17T02:56:35Z</dcterms:created>
  <dcterms:modified xsi:type="dcterms:W3CDTF">2026-07-06T18:43:54Z</dcterms:modified>
</cp:coreProperties>
</file>